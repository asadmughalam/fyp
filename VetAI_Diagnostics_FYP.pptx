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554480"/>
            <a:ext cx="4754880" cy="4754880"/>
          </a:xfrm>
          <a:prstGeom prst="ellipse">
            <a:avLst/>
          </a:prstGeom>
          <a:solidFill>
            <a:srgbClr val="ED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966960" y="3383280"/>
            <a:ext cx="3291840" cy="3291840"/>
          </a:xfrm>
          <a:prstGeom prst="ellipse">
            <a:avLst/>
          </a:prstGeom>
          <a:solidFill>
            <a:srgbClr val="D9ED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72600" y="1965960"/>
            <a:ext cx="2011680" cy="201168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1965960"/>
            <a:ext cx="201168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600" b="1">
                <a:solidFill>
                  <a:srgbClr val="FFFFFF"/>
                </a:solidFill>
                <a:latin typeface="Segoe UI Symbol"/>
              </a:rPr>
              <a:t>⚕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3619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A6B60"/>
                </a:solidFill>
                <a:latin typeface="Aptos Narrow"/>
              </a:rPr>
              <a:t>FINAL YEAR PROJECT  — 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20240"/>
            <a:ext cx="8229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16223A"/>
                </a:solidFill>
                <a:latin typeface="Aptos Narrow"/>
              </a:rPr>
              <a:t>VetAI Diagnostics</a:t>
            </a:r>
          </a:p>
          <a:p>
            <a:pPr algn="l">
              <a:lnSpc>
                <a:spcPct val="100000"/>
              </a:lnSpc>
            </a:pPr>
            <a:r>
              <a:rPr sz="5600" b="1">
                <a:solidFill>
                  <a:srgbClr val="16223A"/>
                </a:solidFill>
                <a:latin typeface="Aptos Narrow"/>
              </a:rPr>
              <a:t>AI Animal Disease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416052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3B475E"/>
                </a:solidFill>
                <a:latin typeface="Aptos Narrow"/>
              </a:rPr>
              <a:t>A deep-learning platform that detects livestock diseases from a single photo — then explains the diagnosis, treatment, and prevention in seconds.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" y="5440680"/>
            <a:ext cx="502920" cy="5486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650992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A95A6"/>
                </a:solidFill>
                <a:latin typeface="Aptos Narrow"/>
              </a:rPr>
              <a:t>Deep Learning (CNN)   •   Django + React   •   Gemini-powered Vet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D8C7D"/>
                </a:solidFill>
                <a:latin typeface="Aptos Narrow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23A"/>
                </a:solidFill>
                <a:latin typeface="Aptos Narrow"/>
              </a:rPr>
              <a:t>Spotting animal disease early is hard — and costly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0698480" cy="1188720"/>
          </a:xfrm>
          <a:prstGeom prst="roundRect">
            <a:avLst>
              <a:gd name="adj" fmla="val 10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76200" dist="25400" dir="5400000" rotWithShape="0">
              <a:srgbClr val="16223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82296" cy="1188720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80"/>
            <a:ext cx="548640" cy="548640"/>
          </a:xfrm>
          <a:prstGeom prst="ellipse">
            <a:avLst/>
          </a:prstGeom>
          <a:solidFill>
            <a:srgbClr val="ED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219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A6B60"/>
                </a:solidFill>
                <a:latin typeface="Segoe UI Symbol"/>
              </a:rP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223A"/>
                </a:solidFill>
                <a:latin typeface="Aptos Narrow"/>
              </a:rPr>
              <a:t>Vets are scarce &amp; slow to reach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505456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On many farms a qualified vet is hours away. By the time one arrives, a treatable infection has already spread or worsened.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40"/>
            <a:ext cx="10698480" cy="1188720"/>
          </a:xfrm>
          <a:prstGeom prst="roundRect">
            <a:avLst>
              <a:gd name="adj" fmla="val 10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76200" dist="25400" dir="5400000" rotWithShape="0">
              <a:srgbClr val="16223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82296" cy="1188720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3611880"/>
            <a:ext cx="548640" cy="548640"/>
          </a:xfrm>
          <a:prstGeom prst="ellipse">
            <a:avLst/>
          </a:prstGeom>
          <a:solidFill>
            <a:srgbClr val="ED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A6B60"/>
                </a:solidFill>
                <a:latin typeface="Segoe UI Symbol"/>
              </a:rPr>
              <a:t>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4747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223A"/>
                </a:solidFill>
                <a:latin typeface="Aptos Narrow"/>
              </a:rPr>
              <a:t>Symptoms are easy to misread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877056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Foot rot, lumpy skin, mastitis and blackleg can look alike to an untrained eye — the wrong guess means the wrong treatment.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10698480" cy="1188720"/>
          </a:xfrm>
          <a:prstGeom prst="roundRect">
            <a:avLst>
              <a:gd name="adj" fmla="val 10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76200" dist="25400" dir="5400000" rotWithShape="0">
              <a:srgbClr val="16223A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663440"/>
            <a:ext cx="82296" cy="1188720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4983479"/>
            <a:ext cx="548640" cy="548640"/>
          </a:xfrm>
          <a:prstGeom prst="ellipse">
            <a:avLst/>
          </a:prstGeom>
          <a:solidFill>
            <a:srgbClr val="ED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96519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A6B60"/>
                </a:solidFill>
                <a:latin typeface="Segoe UI Symbol"/>
              </a:rPr>
              <a:t>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4846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223A"/>
                </a:solidFill>
                <a:latin typeface="Aptos Narrow"/>
              </a:rPr>
              <a:t>Late detection = real losses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5248655"/>
            <a:ext cx="9235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Contagious diseases move fast through a herd. Delays mean lost milk, dead animals, and expensive emergency care.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00800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634593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5A6"/>
                </a:solidFill>
                <a:latin typeface="Aptos Narrow"/>
              </a:rPr>
              <a:t>VetAI Diagnostics  —  Final Year Project Viva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A95A6"/>
                </a:solidFill>
                <a:latin typeface="Aptos Narrow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D8C7D"/>
                </a:solidFill>
                <a:latin typeface="Aptos Narrow"/>
              </a:rPr>
              <a:t>SEE IT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23A"/>
                </a:solidFill>
                <a:latin typeface="Aptos Narrow"/>
              </a:rPr>
              <a:t>The Web App — Home &amp; Upload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27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B475E"/>
                </a:solidFill>
                <a:latin typeface="Aptos Narrow"/>
              </a:rPr>
              <a:t>Show the clean dashboard a farmer lands on: sign in, then drag an animal photo into the detector.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9418320" cy="3886200"/>
          </a:xfrm>
          <a:prstGeom prst="roundRect">
            <a:avLst>
              <a:gd name="adj" fmla="val 3000"/>
            </a:avLst>
          </a:prstGeom>
          <a:solidFill>
            <a:srgbClr val="FBFDFD"/>
          </a:solidFill>
          <a:ln w="15875">
            <a:solidFill>
              <a:srgbClr val="E4ECEC"/>
            </a:solidFill>
          </a:ln>
          <a:effectLst>
            <a:outerShdw blurRad="114300" dist="38100" dir="5400000" rotWithShape="0">
              <a:srgbClr val="16223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50408" y="2926080"/>
            <a:ext cx="1097280" cy="1097280"/>
          </a:xfrm>
          <a:prstGeom prst="ellipse">
            <a:avLst/>
          </a:prstGeom>
          <a:solidFill>
            <a:srgbClr val="ED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50408" y="2907792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0D8C7D"/>
                </a:solidFill>
                <a:latin typeface="Segoe UI Symbol"/>
              </a:rPr>
              <a:t>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6223A"/>
                </a:solidFill>
                <a:latin typeface="Aptos Narrow"/>
              </a:rPr>
              <a:t>Paste your web-app screenshot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681728"/>
            <a:ext cx="8321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A95A6"/>
                </a:solidFill>
                <a:latin typeface="Aptos Narrow"/>
              </a:rPr>
              <a:t>In PowerPoint: drag your image onto this box (then right-click → Send to Back), or click the box and Change Picture.   •   Recommended: 1280 × 800 px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634593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5A6"/>
                </a:solidFill>
                <a:latin typeface="Aptos Narrow"/>
              </a:rPr>
              <a:t>VetAI Diagnostics  —  Final Year Project Viva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A95A6"/>
                </a:solidFill>
                <a:latin typeface="Aptos Narrow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868680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80467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6B60"/>
                </a:solidFill>
                <a:latin typeface="Aptos Narrow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327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300" b="1">
                <a:solidFill>
                  <a:srgbClr val="16223A"/>
                </a:solidFill>
                <a:latin typeface="Aptos Narrow"/>
              </a:rPr>
              <a:t>A photo in. A vet-grade diagnosis out —</a:t>
            </a:r>
          </a:p>
          <a:p>
            <a:pPr algn="l">
              <a:lnSpc>
                <a:spcPct val="102000"/>
              </a:lnSpc>
            </a:pPr>
            <a:r>
              <a:rPr sz="3300" b="1">
                <a:solidFill>
                  <a:srgbClr val="16223A"/>
                </a:solidFill>
                <a:latin typeface="Aptos Narrow"/>
              </a:rPr>
              <a:t>the AI detects the disease, </a:t>
            </a:r>
            <a:r>
              <a:rPr sz="3300" b="1">
                <a:solidFill>
                  <a:srgbClr val="0D8C7D"/>
                </a:solidFill>
                <a:latin typeface="Aptos Narrow"/>
              </a:rPr>
              <a:t>then tells you exactly what to 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77639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977639"/>
            <a:ext cx="3291840" cy="82296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4279392"/>
            <a:ext cx="713232" cy="713232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261104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ymbol"/>
              </a:rPr>
              <a:t>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0749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223A"/>
                </a:solidFill>
                <a:latin typeface="Aptos Narrow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44068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B475E"/>
                </a:solidFill>
                <a:latin typeface="Aptos Narrow"/>
              </a:rPr>
              <a:t>A CNN model reads the photo and names the disease with a confidence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3977639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3977639"/>
            <a:ext cx="3291840" cy="82296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00600" y="4279392"/>
            <a:ext cx="713232" cy="713232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4261104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ymbol"/>
              </a:rPr>
              <a:t>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50749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223A"/>
                </a:solidFill>
                <a:latin typeface="Aptos Narrow"/>
              </a:rPr>
              <a:t>Diagnose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544068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B475E"/>
                </a:solidFill>
                <a:latin typeface="Aptos Narrow"/>
              </a:rPr>
              <a:t>Severity, symptoms and contagion risk — explained in plain language.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977639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3977639"/>
            <a:ext cx="3291840" cy="82296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80" y="4279392"/>
            <a:ext cx="713232" cy="713232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4261104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Segoe UI Symbol"/>
              </a:rPr>
              <a:t>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507492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223A"/>
                </a:solidFill>
                <a:latin typeface="Aptos Narrow"/>
              </a:rPr>
              <a:t>Treat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440680"/>
            <a:ext cx="2880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B475E"/>
                </a:solidFill>
                <a:latin typeface="Aptos Narrow"/>
              </a:rPr>
              <a:t>Evidence-based treatment, antibiotics and prevention tips, instantly.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00800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634593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5A6"/>
                </a:solidFill>
                <a:latin typeface="Aptos Narrow"/>
              </a:rPr>
              <a:t>VetAI Diagnostics  —  Final Year Project Viva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A95A6"/>
                </a:solidFill>
                <a:latin typeface="Aptos Narrow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D8C7D"/>
                </a:solidFill>
                <a:latin typeface="Aptos Narrow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23A"/>
                </a:solidFill>
                <a:latin typeface="Aptos Narrow"/>
              </a:rPr>
              <a:t>How can a computer 'see' a disease?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27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B475E"/>
                </a:solidFill>
                <a:latin typeface="Aptos Narrow"/>
              </a:rPr>
              <a:t>Our model = a Convolutional Neural Network (CNN) that learns visual patterns of disease — just like a vet learns from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83280" cy="3246120"/>
          </a:xfrm>
          <a:prstGeom prst="roundRect">
            <a:avLst>
              <a:gd name="adj" fmla="val 5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3383280" cy="91440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965960" y="2697480"/>
            <a:ext cx="914400" cy="9144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2679192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6223A"/>
                </a:solidFill>
                <a:latin typeface="Aptos Narrow"/>
              </a:rPr>
              <a:t>1. Learns from 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315968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We show the model thousands of labelled animal photos — healthy and diseased — so it learns what each condition looks like.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86000"/>
            <a:ext cx="3383280" cy="3246120"/>
          </a:xfrm>
          <a:prstGeom prst="roundRect">
            <a:avLst>
              <a:gd name="adj" fmla="val 5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286000"/>
            <a:ext cx="3383280" cy="91440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23560" y="2697480"/>
            <a:ext cx="914400" cy="9144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60" y="2679192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94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6223A"/>
                </a:solidFill>
                <a:latin typeface="Aptos Narrow"/>
              </a:rPr>
              <a:t>2. Transfer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315968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It starts from MobileNetV2 (pre-trained on millions of images), so it learns fast even with a modest dataset.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286000"/>
            <a:ext cx="3383280" cy="3246120"/>
          </a:xfrm>
          <a:prstGeom prst="roundRect">
            <a:avLst>
              <a:gd name="adj" fmla="val 5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286000"/>
            <a:ext cx="3383280" cy="91440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81160" y="2697480"/>
            <a:ext cx="914400" cy="9144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679192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Segoe UI Symbol"/>
              </a:rPr>
              <a:t>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794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6223A"/>
                </a:solidFill>
                <a:latin typeface="Aptos Narrow"/>
              </a:rPr>
              <a:t>3. Predicts on new photos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315968"/>
            <a:ext cx="2834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Given an unseen image, it outputs the most likely disease plus a confidence % for every class.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00800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634593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5A6"/>
                </a:solidFill>
                <a:latin typeface="Aptos Narrow"/>
              </a:rPr>
              <a:t>VetAI Diagnostics  —  Final Year Project Viva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A95A6"/>
                </a:solidFill>
                <a:latin typeface="Aptos Narrow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D8C7D"/>
                </a:solidFill>
                <a:latin typeface="Aptos Narrow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23A"/>
                </a:solidFill>
                <a:latin typeface="Aptos Narrow"/>
              </a:rPr>
              <a:t>The Detection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331720" cy="1371600"/>
          </a:xfrm>
          <a:prstGeom prst="roundRect">
            <a:avLst>
              <a:gd name="adj" fmla="val 10000"/>
            </a:avLst>
          </a:prstGeom>
          <a:solidFill>
            <a:srgbClr val="0D8C7D"/>
          </a:solidFill>
          <a:ln>
            <a:noFill/>
          </a:ln>
          <a:effectLst>
            <a:outerShdw blurRad="76200" dist="25400" dir="5400000" rotWithShape="0">
              <a:srgbClr val="16223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2331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 Symbol"/>
              </a:rPr>
              <a:t>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35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Narrow"/>
              </a:rPr>
              <a:t>Upload 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468880"/>
            <a:ext cx="38404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D8C7D"/>
                </a:solidFill>
                <a:latin typeface="Aptos Narrow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8" y="2148840"/>
            <a:ext cx="2331720" cy="1371600"/>
          </a:xfrm>
          <a:prstGeom prst="roundRect">
            <a:avLst>
              <a:gd name="adj" fmla="val 10000"/>
            </a:avLst>
          </a:prstGeom>
          <a:solidFill>
            <a:srgbClr val="EDF6F4"/>
          </a:solidFill>
          <a:ln>
            <a:noFill/>
          </a:ln>
          <a:effectLst>
            <a:outerShdw blurRad="76200" dist="25400" dir="5400000" rotWithShape="0">
              <a:srgbClr val="16223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2331720"/>
            <a:ext cx="2331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A6B60"/>
                </a:solidFill>
                <a:latin typeface="Segoe UI Symbol"/>
              </a:rPr>
              <a:t>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935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A6B60"/>
                </a:solidFill>
                <a:latin typeface="Aptos Narrow"/>
              </a:rPr>
              <a:t>Preprocess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9008" y="2468880"/>
            <a:ext cx="38404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D8C7D"/>
                </a:solidFill>
                <a:latin typeface="Aptos Narrow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4496" y="2148840"/>
            <a:ext cx="2331720" cy="1371600"/>
          </a:xfrm>
          <a:prstGeom prst="roundRect">
            <a:avLst>
              <a:gd name="adj" fmla="val 10000"/>
            </a:avLst>
          </a:prstGeom>
          <a:solidFill>
            <a:srgbClr val="0D8C7D"/>
          </a:solidFill>
          <a:ln>
            <a:noFill/>
          </a:ln>
          <a:effectLst>
            <a:outerShdw blurRad="76200" dist="25400" dir="5400000" rotWithShape="0">
              <a:srgbClr val="16223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2331720"/>
            <a:ext cx="2331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 Symbol"/>
              </a:rPr>
              <a:t>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4496" y="2935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 Narrow"/>
              </a:rPr>
              <a:t>CNN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94776" y="2468880"/>
            <a:ext cx="38404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0D8C7D"/>
                </a:solidFill>
                <a:latin typeface="Aptos Narrow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70264" y="2148840"/>
            <a:ext cx="2331720" cy="1371600"/>
          </a:xfrm>
          <a:prstGeom prst="roundRect">
            <a:avLst>
              <a:gd name="adj" fmla="val 10000"/>
            </a:avLst>
          </a:prstGeom>
          <a:solidFill>
            <a:srgbClr val="EDF6F4"/>
          </a:solidFill>
          <a:ln>
            <a:noFill/>
          </a:ln>
          <a:effectLst>
            <a:outerShdw blurRad="76200" dist="25400" dir="5400000" rotWithShape="0">
              <a:srgbClr val="16223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70264" y="2331720"/>
            <a:ext cx="2331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0A6B60"/>
                </a:solidFill>
                <a:latin typeface="Segoe UI Symbol"/>
              </a:rPr>
              <a:t>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293522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0A6B60"/>
                </a:solidFill>
                <a:latin typeface="Aptos Narrow"/>
              </a:rPr>
              <a:t>Rank classes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4023360"/>
            <a:ext cx="7406640" cy="731520"/>
          </a:xfrm>
          <a:prstGeom prst="roundRect">
            <a:avLst>
              <a:gd name="adj" fmla="val 30000"/>
            </a:avLst>
          </a:prstGeom>
          <a:solidFill>
            <a:srgbClr val="EDF6F4"/>
          </a:solidFill>
          <a:ln w="9525">
            <a:solidFill>
              <a:srgbClr val="E4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06040" y="4023360"/>
            <a:ext cx="69494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6223A"/>
                </a:solidFill>
                <a:latin typeface="Aptos Narrow"/>
              </a:rPr>
              <a:t>Resized to 224×224 → normalised → softmax over 7 classes — the top class becomes the diagnosis.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5074920"/>
            <a:ext cx="3749039" cy="960120"/>
          </a:xfrm>
          <a:prstGeom prst="roundRect">
            <a:avLst>
              <a:gd name="adj" fmla="val 12000"/>
            </a:avLst>
          </a:prstGeom>
          <a:solidFill>
            <a:srgbClr val="0D8C7D"/>
          </a:solidFill>
          <a:ln>
            <a:noFill/>
          </a:ln>
          <a:effectLst>
            <a:outerShdw blurRad="101600" dist="38100" dir="5400000" rotWithShape="0">
              <a:srgbClr val="16223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52120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 Narrow"/>
              </a:rPr>
              <a:t>Diagnosis + confidence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559612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DFF3EF"/>
                </a:solidFill>
                <a:latin typeface="Aptos Narrow"/>
              </a:rPr>
              <a:t>with treatment &amp; prevention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00800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634593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5A6"/>
                </a:solidFill>
                <a:latin typeface="Aptos Narrow"/>
              </a:rPr>
              <a:t>VetAI Diagnostics  —  Final Year Project Viva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A95A6"/>
                </a:solidFill>
                <a:latin typeface="Aptos Narro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D8C7D"/>
                </a:solidFill>
                <a:latin typeface="Aptos Narrow"/>
              </a:rP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23A"/>
                </a:solidFill>
                <a:latin typeface="Aptos Narrow"/>
              </a:rPr>
              <a:t>What the System Can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257800" cy="164592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304288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2066543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223A"/>
                </a:solidFill>
                <a:latin typeface="Aptos Narrow"/>
              </a:rPr>
              <a:t>Detect from an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505456"/>
            <a:ext cx="3886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Upload a photo — get the disease, confidence score and full prediction breakdown.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257800" cy="164592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79" y="2304288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228600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066543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223A"/>
                </a:solidFill>
                <a:latin typeface="Aptos Narrow"/>
              </a:rPr>
              <a:t>Diagnose by symptoms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505456"/>
            <a:ext cx="3886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No photo? Pick the symptoms and the system reasons toward the most likely disease.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5257800" cy="164592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4178808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16052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941063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223A"/>
                </a:solidFill>
                <a:latin typeface="Aptos Narrow"/>
              </a:rPr>
              <a:t>Treatment &amp; prevention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379976"/>
            <a:ext cx="3886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Severity, symptoms, antibiotics, treatment plan and prevention for every disease.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257800" cy="164592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83679" y="4178808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4160520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941063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223A"/>
                </a:solidFill>
                <a:latin typeface="Aptos Narrow"/>
              </a:rPr>
              <a:t>History &amp;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379976"/>
            <a:ext cx="3886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Every detection is saved — track trends, disease distribution and confidence over time.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A95A6"/>
                </a:solidFill>
                <a:latin typeface="Aptos Narrow"/>
              </a:rPr>
              <a:t>Plus a Gemini-powered Vet Assistant chat — students can ask follow-up questions in natural language.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00800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634593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5A6"/>
                </a:solidFill>
                <a:latin typeface="Aptos Narrow"/>
              </a:rPr>
              <a:t>VetAI Diagnostics  —  Final Year Project Viva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A95A6"/>
                </a:solidFill>
                <a:latin typeface="Aptos Narrow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D8C7D"/>
                </a:solidFill>
                <a:latin typeface="Aptos Narrow"/>
              </a:rPr>
              <a:t>SEE IT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23A"/>
                </a:solidFill>
                <a:latin typeface="Aptos Narrow"/>
              </a:rPr>
              <a:t>Detection Result — Diagnosis &amp; Treatment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27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B475E"/>
                </a:solidFill>
                <a:latin typeface="Aptos Narrow"/>
              </a:rPr>
              <a:t>Capture the result card: disease name, confidence score, severity, symptoms, treatment and recommended antibiotics.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9418320" cy="3886200"/>
          </a:xfrm>
          <a:prstGeom prst="roundRect">
            <a:avLst>
              <a:gd name="adj" fmla="val 3000"/>
            </a:avLst>
          </a:prstGeom>
          <a:solidFill>
            <a:srgbClr val="FBFDFD"/>
          </a:solidFill>
          <a:ln w="15875">
            <a:solidFill>
              <a:srgbClr val="E4ECEC"/>
            </a:solidFill>
          </a:ln>
          <a:effectLst>
            <a:outerShdw blurRad="114300" dist="38100" dir="5400000" rotWithShape="0">
              <a:srgbClr val="16223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50408" y="2926080"/>
            <a:ext cx="1097280" cy="1097280"/>
          </a:xfrm>
          <a:prstGeom prst="ellipse">
            <a:avLst/>
          </a:prstGeom>
          <a:solidFill>
            <a:srgbClr val="ED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50408" y="2907792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0D8C7D"/>
                </a:solidFill>
                <a:latin typeface="Segoe UI Symbol"/>
              </a:rPr>
              <a:t>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6223A"/>
                </a:solidFill>
                <a:latin typeface="Aptos Narrow"/>
              </a:rPr>
              <a:t>Paste your result-screen screenshot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681728"/>
            <a:ext cx="8321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A95A6"/>
                </a:solidFill>
                <a:latin typeface="Aptos Narrow"/>
              </a:rPr>
              <a:t>In PowerPoint: drag your image onto this box (then right-click → Send to Back), or click the box and Change Picture.   •   Recommended: 1280 × 800 px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634593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5A6"/>
                </a:solidFill>
                <a:latin typeface="Aptos Narrow"/>
              </a:rPr>
              <a:t>VetAI Diagnostics  —  Final Year Project Viva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A95A6"/>
                </a:solidFill>
                <a:latin typeface="Aptos Narro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D8C7D"/>
                </a:solidFill>
                <a:latin typeface="Aptos Narrow"/>
              </a:rPr>
              <a:t>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23A"/>
                </a:solidFill>
                <a:latin typeface="Aptos Narrow"/>
              </a:rPr>
              <a:t>The Deep-Learning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6223A"/>
                </a:solidFill>
                <a:latin typeface="Aptos Narrow"/>
              </a:rPr>
              <a:t>MobileNetV2 + transfer learning </a:t>
            </a:r>
            <a:r>
              <a:rPr sz="1500" b="1">
                <a:solidFill>
                  <a:srgbClr val="16223A"/>
                </a:solidFill>
                <a:latin typeface="Aptos Narrow"/>
              </a:rPr>
              <a:t>— a compact CNN that is accurate, fast, and light enough to run on modest hardware.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3383280" cy="91440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560320"/>
            <a:ext cx="777240" cy="77724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596896"/>
            <a:ext cx="777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 Narrow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6223A"/>
                </a:solidFill>
                <a:latin typeface="Aptos Narrow"/>
              </a:rPr>
              <a:t>Augment &amp; train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6908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Images are rotated, flipped and zoomed so the model generalises — trained for 50 epochs.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28600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286000"/>
            <a:ext cx="3383280" cy="91440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40" y="2560320"/>
            <a:ext cx="777240" cy="77724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596896"/>
            <a:ext cx="777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 Narrow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747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6223A"/>
                </a:solidFill>
                <a:latin typeface="Aptos Narrow"/>
              </a:rPr>
              <a:t>Transfer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06908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A MobileNetV2 base (ImageNet) is reused; only the top layers learn our 7 disease classes.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28600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2286000"/>
            <a:ext cx="3383280" cy="91440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1040" y="2560320"/>
            <a:ext cx="777240" cy="77724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596896"/>
            <a:ext cx="777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Aptos Narrow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47472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6223A"/>
                </a:solidFill>
                <a:latin typeface="Aptos Narrow"/>
              </a:rPr>
              <a:t>Evaluate &amp; 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069080"/>
            <a:ext cx="2880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Accuracy, precision &amp; recall are measured; the best model is saved and served via the API.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A6B60"/>
                </a:solidFill>
                <a:latin typeface="Aptos Narrow"/>
              </a:rPr>
              <a:t>Result: a fast, repeatable second opinion — available 24/7, anywhere the farmer has a phone.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00800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634593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5A6"/>
                </a:solidFill>
                <a:latin typeface="Aptos Narrow"/>
              </a:rPr>
              <a:t>VetAI Diagnostics  —  Final Year Project Viva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A95A6"/>
                </a:solidFill>
                <a:latin typeface="Aptos Narrow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D8C7D"/>
                </a:solidFill>
                <a:latin typeface="Aptos Narrow"/>
              </a:rPr>
              <a:t>INSIDE THE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23A"/>
                </a:solidFill>
                <a:latin typeface="Aptos Narrow"/>
              </a:rPr>
              <a:t>detect/  —  what happens on one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27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B475E"/>
                </a:solidFill>
                <a:latin typeface="Aptos Narrow"/>
              </a:rPr>
              <a:t>When a farmer hits “Detect Disease”, the backend turns a raw image into a structured, explainable diagnosis.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0698480" cy="658368"/>
          </a:xfrm>
          <a:prstGeom prst="roundRect">
            <a:avLst>
              <a:gd name="adj" fmla="val 1800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49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D9EDE9"/>
                </a:solidFill>
                <a:latin typeface="Aptos Narrow"/>
              </a:rPr>
              <a:t>POST /api/animal/detect/   —   file: cow.jpg   →   { disease, confidence, treatment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2468880" cy="2423160"/>
          </a:xfrm>
          <a:prstGeom prst="roundRect">
            <a:avLst>
              <a:gd name="adj" fmla="val 6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2468880" cy="82296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554480" y="3127248"/>
            <a:ext cx="822960" cy="82296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10896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 Symbol"/>
              </a:rPr>
              <a:t>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148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6223A"/>
                </a:solidFill>
                <a:latin typeface="Aptos Narrow"/>
              </a:rPr>
              <a:t>1. Image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8056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B475E"/>
                </a:solidFill>
                <a:latin typeface="Aptos Narrow"/>
              </a:rPr>
              <a:t>The uploaded photo is validated (type &amp; size) and read into memory.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834640"/>
            <a:ext cx="2468880" cy="2423160"/>
          </a:xfrm>
          <a:prstGeom prst="roundRect">
            <a:avLst>
              <a:gd name="adj" fmla="val 6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2834640"/>
            <a:ext cx="2468880" cy="82296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97680" y="3127248"/>
            <a:ext cx="822960" cy="82296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310896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 Symbol"/>
              </a:rPr>
              <a:t>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1148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6223A"/>
                </a:solidFill>
                <a:latin typeface="Aptos Narrow"/>
              </a:rPr>
              <a:t>2. Preprocess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48056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B475E"/>
                </a:solidFill>
                <a:latin typeface="Aptos Narrow"/>
              </a:rPr>
              <a:t>Resized to 224×224, converted to RGB and normalised to model input.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834640"/>
            <a:ext cx="2468880" cy="2423160"/>
          </a:xfrm>
          <a:prstGeom prst="roundRect">
            <a:avLst>
              <a:gd name="adj" fmla="val 6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834640"/>
            <a:ext cx="2468880" cy="82296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40880" y="3127248"/>
            <a:ext cx="822960" cy="82296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10896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 Symbol"/>
              </a:rPr>
              <a:t>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41148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6223A"/>
                </a:solidFill>
                <a:latin typeface="Aptos Narrow"/>
              </a:rPr>
              <a:t>3. CNN 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B475E"/>
                </a:solidFill>
                <a:latin typeface="Aptos Narrow"/>
              </a:rPr>
              <a:t>MobileNetV2 outputs a probability for each of the 7 classes (softmax).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2834640"/>
            <a:ext cx="2468880" cy="2423160"/>
          </a:xfrm>
          <a:prstGeom prst="roundRect">
            <a:avLst>
              <a:gd name="adj" fmla="val 6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61120" y="2834640"/>
            <a:ext cx="2468880" cy="82296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784080" y="3127248"/>
            <a:ext cx="822960" cy="82296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310896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Segoe UI Symbol"/>
              </a:rPr>
              <a:t>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411480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6223A"/>
                </a:solidFill>
                <a:latin typeface="Aptos Narrow"/>
              </a:rPr>
              <a:t>4. Enrich &amp; save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448056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3B475E"/>
                </a:solidFill>
                <a:latin typeface="Aptos Narrow"/>
              </a:rPr>
              <a:t>Top class + Gemini disease info → treatment, then stored to history.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611880"/>
            <a:ext cx="274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D8C7D"/>
                </a:solidFill>
                <a:latin typeface="Aptos Narrow"/>
              </a:rPr>
              <a:t>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611880"/>
            <a:ext cx="274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D8C7D"/>
                </a:solidFill>
                <a:latin typeface="Aptos Narrow"/>
              </a:rP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611880"/>
            <a:ext cx="274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0D8C7D"/>
                </a:solidFill>
                <a:latin typeface="Aptos Narrow"/>
              </a:rPr>
              <a:t>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76072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A6B60"/>
                </a:solidFill>
                <a:latin typeface="Aptos Narrow"/>
              </a:rPr>
              <a:t>Also smart: a mock-prediction fallback if the model file is missing • results cached in history • Gemini info has a JSON fallback so the app never breaks.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400800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634593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5A6"/>
                </a:solidFill>
                <a:latin typeface="Aptos Narrow"/>
              </a:rPr>
              <a:t>VetAI Diagnostics  —  Final Year Project Viva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A95A6"/>
                </a:solidFill>
                <a:latin typeface="Aptos Narro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D8C7D"/>
                </a:solidFill>
                <a:latin typeface="Aptos Narrow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23A"/>
                </a:solidFill>
                <a:latin typeface="Aptos Narrow"/>
              </a:rPr>
              <a:t>Seven Conditions It Recognises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27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B475E"/>
                </a:solidFill>
                <a:latin typeface="Aptos Narrow"/>
              </a:rPr>
              <a:t>Six diseases plus a healthy class — each with severity, key signs and contagion risk built into the app.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057400"/>
          <a:ext cx="10698480" cy="4041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554480"/>
                <a:gridCol w="493776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 Narrow"/>
                        </a:rPr>
                        <a:t>Disease</a:t>
                      </a:r>
                    </a:p>
                  </a:txBody>
                  <a:tcPr marL="109728" marR="73152" marT="27432" marB="27432" anchor="ctr"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 Narrow"/>
                        </a:rPr>
                        <a:t>Severity</a:t>
                      </a:r>
                    </a:p>
                  </a:txBody>
                  <a:tcPr marL="109728" marR="73152" marT="27432" marB="27432" anchor="ctr"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 Narrow"/>
                        </a:rPr>
                        <a:t>Key signs</a:t>
                      </a:r>
                    </a:p>
                  </a:txBody>
                  <a:tcPr marL="109728" marR="73152" marT="27432" marB="27432" anchor="ctr">
                    <a:solidFill>
                      <a:srgbClr val="16223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 Narrow"/>
                        </a:rPr>
                        <a:t>Contagious</a:t>
                      </a:r>
                    </a:p>
                  </a:txBody>
                  <a:tcPr marL="109728" marR="73152" marT="27432" marB="27432" anchor="ctr">
                    <a:solidFill>
                      <a:srgbClr val="16223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6223A"/>
                          </a:solidFill>
                          <a:latin typeface="Aptos Narrow"/>
                        </a:rPr>
                        <a:t>Foot-and-Mouth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0392B"/>
                          </a:solidFill>
                          <a:latin typeface="Aptos Narrow"/>
                        </a:rPr>
                        <a:t>Critical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3B475E"/>
                          </a:solidFill>
                          <a:latin typeface="Aptos Narrow"/>
                        </a:rPr>
                        <a:t>Blisters on mouth &amp; hooves, drooling, lameness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0392B"/>
                          </a:solidFill>
                          <a:latin typeface="Aptos Narrow"/>
                        </a:rPr>
                        <a:t>Yes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6223A"/>
                          </a:solidFill>
                          <a:latin typeface="Aptos Narrow"/>
                        </a:rPr>
                        <a:t>Lumpy Skin</a:t>
                      </a:r>
                    </a:p>
                  </a:txBody>
                  <a:tcPr marL="109728" marR="73152" marT="27432" marB="27432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D38B10"/>
                          </a:solidFill>
                          <a:latin typeface="Aptos Narrow"/>
                        </a:rPr>
                        <a:t>High</a:t>
                      </a:r>
                    </a:p>
                  </a:txBody>
                  <a:tcPr marL="109728" marR="73152" marT="27432" marB="27432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3B475E"/>
                          </a:solidFill>
                          <a:latin typeface="Aptos Narrow"/>
                        </a:rPr>
                        <a:t>Firm skin nodules, fever, reduced milk</a:t>
                      </a:r>
                    </a:p>
                  </a:txBody>
                  <a:tcPr marL="109728" marR="73152" marT="27432" marB="27432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0392B"/>
                          </a:solidFill>
                          <a:latin typeface="Aptos Narrow"/>
                        </a:rPr>
                        <a:t>Yes</a:t>
                      </a:r>
                    </a:p>
                  </a:txBody>
                  <a:tcPr marL="109728" marR="73152" marT="27432" marB="27432" anchor="ctr">
                    <a:solidFill>
                      <a:srgbClr val="F4F8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6223A"/>
                          </a:solidFill>
                          <a:latin typeface="Aptos Narrow"/>
                        </a:rPr>
                        <a:t>Mastitis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D38B10"/>
                          </a:solidFill>
                          <a:latin typeface="Aptos Narrow"/>
                        </a:rPr>
                        <a:t>High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3B475E"/>
                          </a:solidFill>
                          <a:latin typeface="Aptos Narrow"/>
                        </a:rPr>
                        <a:t>Udder swelling, abnormal milk, pain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0392B"/>
                          </a:solidFill>
                          <a:latin typeface="Aptos Narrow"/>
                        </a:rPr>
                        <a:t>Yes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6223A"/>
                          </a:solidFill>
                          <a:latin typeface="Aptos Narrow"/>
                        </a:rPr>
                        <a:t>Calf Pneumonia</a:t>
                      </a:r>
                    </a:p>
                  </a:txBody>
                  <a:tcPr marL="109728" marR="73152" marT="27432" marB="27432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D38B10"/>
                          </a:solidFill>
                          <a:latin typeface="Aptos Narrow"/>
                        </a:rPr>
                        <a:t>High</a:t>
                      </a:r>
                    </a:p>
                  </a:txBody>
                  <a:tcPr marL="109728" marR="73152" marT="27432" marB="27432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3B475E"/>
                          </a:solidFill>
                          <a:latin typeface="Aptos Narrow"/>
                        </a:rPr>
                        <a:t>Coughing, nasal discharge, fast breathing</a:t>
                      </a:r>
                    </a:p>
                  </a:txBody>
                  <a:tcPr marL="109728" marR="73152" marT="27432" marB="27432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0392B"/>
                          </a:solidFill>
                          <a:latin typeface="Aptos Narrow"/>
                        </a:rPr>
                        <a:t>Yes</a:t>
                      </a:r>
                    </a:p>
                  </a:txBody>
                  <a:tcPr marL="109728" marR="73152" marT="27432" marB="27432" anchor="ctr">
                    <a:solidFill>
                      <a:srgbClr val="F4F8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6223A"/>
                          </a:solidFill>
                          <a:latin typeface="Aptos Narrow"/>
                        </a:rPr>
                        <a:t>Blackleg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0392B"/>
                          </a:solidFill>
                          <a:latin typeface="Aptos Narrow"/>
                        </a:rPr>
                        <a:t>Critical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3B475E"/>
                          </a:solidFill>
                          <a:latin typeface="Aptos Narrow"/>
                        </a:rPr>
                        <a:t>Sudden lameness, dark muscle swelling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3B475E"/>
                          </a:solidFill>
                          <a:latin typeface="Aptos Narrow"/>
                        </a:rPr>
                        <a:t>No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6223A"/>
                          </a:solidFill>
                          <a:latin typeface="Aptos Narrow"/>
                        </a:rPr>
                        <a:t>Bloat</a:t>
                      </a:r>
                    </a:p>
                  </a:txBody>
                  <a:tcPr marL="109728" marR="73152" marT="27432" marB="27432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C0392B"/>
                          </a:solidFill>
                          <a:latin typeface="Aptos Narrow"/>
                        </a:rPr>
                        <a:t>Critical</a:t>
                      </a:r>
                    </a:p>
                  </a:txBody>
                  <a:tcPr marL="109728" marR="73152" marT="27432" marB="27432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3B475E"/>
                          </a:solidFill>
                          <a:latin typeface="Aptos Narrow"/>
                        </a:rPr>
                        <a:t>Distended left side, distress, drooling</a:t>
                      </a:r>
                    </a:p>
                  </a:txBody>
                  <a:tcPr marL="109728" marR="73152" marT="27432" marB="27432" anchor="ctr">
                    <a:solidFill>
                      <a:srgbClr val="F4F8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3B475E"/>
                          </a:solidFill>
                          <a:latin typeface="Aptos Narrow"/>
                        </a:rPr>
                        <a:t>No</a:t>
                      </a:r>
                    </a:p>
                  </a:txBody>
                  <a:tcPr marL="109728" marR="73152" marT="27432" marB="27432" anchor="ctr">
                    <a:solidFill>
                      <a:srgbClr val="F4F8F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6223A"/>
                          </a:solidFill>
                          <a:latin typeface="Aptos Narrow"/>
                        </a:rPr>
                        <a:t>Healthy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8A95A6"/>
                          </a:solidFill>
                          <a:latin typeface="Aptos Narrow"/>
                        </a:rPr>
                        <a:t>—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>
                          <a:solidFill>
                            <a:srgbClr val="3B475E"/>
                          </a:solidFill>
                          <a:latin typeface="Aptos Narrow"/>
                        </a:rPr>
                        <a:t>Normal appearance &amp; behaviour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>
                          <a:solidFill>
                            <a:srgbClr val="3B475E"/>
                          </a:solidFill>
                          <a:latin typeface="Aptos Narrow"/>
                        </a:rPr>
                        <a:t>No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6400800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634593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5A6"/>
                </a:solidFill>
                <a:latin typeface="Aptos Narrow"/>
              </a:rPr>
              <a:t>VetAI Diagnostics  —  Final Year Project Viva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A95A6"/>
                </a:solidFill>
                <a:latin typeface="Aptos Narro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D8C7D"/>
                </a:solidFill>
                <a:latin typeface="Aptos Narrow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23A"/>
                </a:solidFill>
                <a:latin typeface="Aptos Narrow"/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514600" cy="178308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45920" y="2112263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2093975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16223A"/>
                </a:solidFill>
                <a:latin typeface="Aptos Narrow"/>
              </a:rPr>
              <a:t>TensorFlow / Keras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27832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8A95A6"/>
                </a:solidFill>
                <a:latin typeface="Aptos Narrow"/>
              </a:rPr>
              <a:t>Deep-learning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74519"/>
            <a:ext cx="2514600" cy="178308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89120" y="2112263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093975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8803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16223A"/>
                </a:solidFill>
                <a:latin typeface="Aptos Narrow"/>
              </a:rPr>
              <a:t>MobileNetV2 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27832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8A95A6"/>
                </a:solidFill>
                <a:latin typeface="Aptos Narrow"/>
              </a:rPr>
              <a:t>Image classifier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74519"/>
            <a:ext cx="2514600" cy="178308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0" y="2112263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2093975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8803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16223A"/>
                </a:solidFill>
                <a:latin typeface="Aptos Narrow"/>
              </a:rPr>
              <a:t>Django + DRF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227832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8A95A6"/>
                </a:solidFill>
                <a:latin typeface="Aptos Narrow"/>
              </a:rPr>
              <a:t>Backend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874519"/>
            <a:ext cx="2514600" cy="178308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0" y="2112263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2093975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88036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16223A"/>
                </a:solidFill>
                <a:latin typeface="Aptos Narrow"/>
              </a:rPr>
              <a:t>React + Vite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227832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8A95A6"/>
                </a:solidFill>
                <a:latin typeface="Aptos Narrow"/>
              </a:rPr>
              <a:t>Frontend UI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86200"/>
            <a:ext cx="2514600" cy="178308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645920" y="4123944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4105656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8920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16223A"/>
                </a:solidFill>
                <a:latin typeface="Aptos Narrow"/>
              </a:rPr>
              <a:t>MySQL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39512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8A95A6"/>
                </a:solidFill>
                <a:latin typeface="Aptos Narrow"/>
              </a:rPr>
              <a:t>Users, detections, history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4720" y="3886200"/>
            <a:ext cx="2514600" cy="178308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89120" y="4123944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4105656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8920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16223A"/>
                </a:solidFill>
                <a:latin typeface="Aptos Narrow"/>
              </a:rPr>
              <a:t>Tailwind CSS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239512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8A95A6"/>
                </a:solidFill>
                <a:latin typeface="Aptos Narrow"/>
              </a:rPr>
              <a:t>Responsive styling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886200"/>
            <a:ext cx="2514600" cy="178308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132320" y="4123944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4105656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59" y="48920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16223A"/>
                </a:solidFill>
                <a:latin typeface="Aptos Narrow"/>
              </a:rPr>
              <a:t>Gemini API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5239512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8A95A6"/>
                </a:solidFill>
                <a:latin typeface="Aptos Narrow"/>
              </a:rPr>
              <a:t>Disease info + Vet chat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0" y="3886200"/>
            <a:ext cx="2514600" cy="178308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875520" y="4123944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875520" y="4105656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892040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16223A"/>
                </a:solidFill>
                <a:latin typeface="Aptos Narrow"/>
              </a:rPr>
              <a:t>JWT Auth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39512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8A95A6"/>
                </a:solidFill>
                <a:latin typeface="Aptos Narrow"/>
              </a:rPr>
              <a:t>Secure login &amp; sessions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6400800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634593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5A6"/>
                </a:solidFill>
                <a:latin typeface="Aptos Narrow"/>
              </a:rPr>
              <a:t>VetAI Diagnostics  —  Final Year Project Viva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064240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A95A6"/>
                </a:solidFill>
                <a:latin typeface="Aptos Narro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D8C7D"/>
                </a:solidFill>
                <a:latin typeface="Aptos Narrow"/>
              </a:rPr>
              <a:t>SEE IT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23A"/>
                </a:solidFill>
                <a:latin typeface="Aptos Narrow"/>
              </a:rPr>
              <a:t>Statistics &amp; Detection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270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B475E"/>
                </a:solidFill>
                <a:latin typeface="Aptos Narrow"/>
              </a:rPr>
              <a:t>Show the analytics dashboard: disease distribution, confidence trends and the full history of past detections.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011680"/>
            <a:ext cx="9418320" cy="3886200"/>
          </a:xfrm>
          <a:prstGeom prst="roundRect">
            <a:avLst>
              <a:gd name="adj" fmla="val 3000"/>
            </a:avLst>
          </a:prstGeom>
          <a:solidFill>
            <a:srgbClr val="FBFDFD"/>
          </a:solidFill>
          <a:ln w="15875">
            <a:solidFill>
              <a:srgbClr val="E4ECEC"/>
            </a:solidFill>
          </a:ln>
          <a:effectLst>
            <a:outerShdw blurRad="114300" dist="38100" dir="5400000" rotWithShape="0">
              <a:srgbClr val="16223A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550408" y="2926080"/>
            <a:ext cx="1097280" cy="1097280"/>
          </a:xfrm>
          <a:prstGeom prst="ellipse">
            <a:avLst/>
          </a:prstGeom>
          <a:solidFill>
            <a:srgbClr val="ED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50408" y="2907792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>
                <a:solidFill>
                  <a:srgbClr val="0D8C7D"/>
                </a:solidFill>
                <a:latin typeface="Segoe UI Symbol"/>
              </a:rPr>
              <a:t>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1605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6223A"/>
                </a:solidFill>
                <a:latin typeface="Aptos Narrow"/>
              </a:rPr>
              <a:t>Paste your dashboard screenshot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4681728"/>
            <a:ext cx="8321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A95A6"/>
                </a:solidFill>
                <a:latin typeface="Aptos Narrow"/>
              </a:rPr>
              <a:t>In PowerPoint: drag your image onto this box (then right-click → Send to Back), or click the box and Change Picture.   •   Recommended: 1280 × 800 px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634593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5A6"/>
                </a:solidFill>
                <a:latin typeface="Aptos Narrow"/>
              </a:rPr>
              <a:t>VetAI Diagnostics  —  Final Year Project Viva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A95A6"/>
                </a:solidFill>
                <a:latin typeface="Aptos Narrow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D8C7D"/>
                </a:solidFill>
                <a:latin typeface="Aptos Narrow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6223A"/>
                </a:solidFill>
                <a:latin typeface="Aptos Narrow"/>
              </a:rPr>
              <a:t>What Makes It Special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5257800" cy="169164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91440" cy="1691640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77439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59151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3055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223A"/>
                </a:solidFill>
                <a:latin typeface="Aptos Narrow"/>
              </a:rPr>
              <a:t>Photo-to-diagnosis in seconds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87752"/>
            <a:ext cx="3840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A farmer needs only a phone camera — no specialist equipment.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257800" cy="169164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874519"/>
            <a:ext cx="91440" cy="1691640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9400" y="2377439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359151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13055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223A"/>
                </a:solidFill>
                <a:latin typeface="Aptos Narrow"/>
              </a:rPr>
              <a:t>Two ways to diagnose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587752"/>
            <a:ext cx="3840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By image (CNN) or by symptoms — whichever the user has on hand.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0480"/>
            <a:ext cx="5257800" cy="169164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91440" cy="1691640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7280" y="4343400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325112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09651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223A"/>
                </a:solidFill>
                <a:latin typeface="Aptos Narrow"/>
              </a:rPr>
              <a:t>Actionable, not just a label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553712"/>
            <a:ext cx="3840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Every result includes treatment, antibiotics and prevention.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840480"/>
            <a:ext cx="5257800" cy="1691640"/>
          </a:xfrm>
          <a:prstGeom prst="roundRect">
            <a:avLst>
              <a:gd name="adj" fmla="val 7000"/>
            </a:avLst>
          </a:prstGeom>
          <a:solidFill>
            <a:srgbClr val="F6F9F9"/>
          </a:solidFill>
          <a:ln w="9525">
            <a:solidFill>
              <a:srgbClr val="E4ECEC"/>
            </a:solidFill>
          </a:ln>
          <a:effectLst>
            <a:outerShdw blurRad="88900" dist="31750" dir="5400000" rotWithShape="0">
              <a:srgbClr val="16223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840480"/>
            <a:ext cx="91440" cy="1691640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29400" y="4343400"/>
            <a:ext cx="685800" cy="68580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325112"/>
            <a:ext cx="6858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Segoe UI Symbol"/>
              </a:rPr>
              <a:t>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409651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16223A"/>
                </a:solidFill>
                <a:latin typeface="Aptos Narrow"/>
              </a:rPr>
              <a:t>Secure &amp; trackable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4553712"/>
            <a:ext cx="3840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3B475E"/>
                </a:solidFill>
                <a:latin typeface="Aptos Narrow"/>
              </a:rPr>
              <a:t>JWT auth, per-user history, and analytics for every detection.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400800"/>
            <a:ext cx="146304" cy="146304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634593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A95A6"/>
                </a:solidFill>
                <a:latin typeface="Aptos Narrow"/>
              </a:rPr>
              <a:t>VetAI Diagnostics  —  Final Year Project Viva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345936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A95A6"/>
                </a:solidFill>
                <a:latin typeface="Aptos Narrow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160520"/>
            <a:ext cx="2194560" cy="2194560"/>
          </a:xfrm>
          <a:prstGeom prst="ellipse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0" y="4160520"/>
            <a:ext cx="2194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Segoe UI Symbol"/>
              </a:rPr>
              <a:t>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Aptos Narrow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3383280"/>
            <a:ext cx="548640" cy="64008"/>
          </a:xfrm>
          <a:prstGeom prst="rect">
            <a:avLst/>
          </a:prstGeom>
          <a:solidFill>
            <a:srgbClr val="0D8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C7D3E3"/>
                </a:solidFill>
                <a:latin typeface="Aptos Narrow"/>
              </a:rPr>
              <a:t>An accurate, action-taking AI for early animal-disease detection.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D8C7D"/>
                </a:solidFill>
                <a:latin typeface="Aptos Narrow"/>
              </a:rPr>
              <a:t>Questions are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